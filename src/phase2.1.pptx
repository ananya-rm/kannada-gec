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7"/>
  </p:notesMasterIdLst>
  <p:sldIdLst>
    <p:sldId id="294" r:id="rId2"/>
    <p:sldId id="257" r:id="rId3"/>
    <p:sldId id="271" r:id="rId4"/>
    <p:sldId id="266" r:id="rId5"/>
    <p:sldId id="285" r:id="rId6"/>
    <p:sldId id="303" r:id="rId7"/>
    <p:sldId id="304" r:id="rId8"/>
    <p:sldId id="305" r:id="rId9"/>
    <p:sldId id="306" r:id="rId10"/>
    <p:sldId id="307" r:id="rId11"/>
    <p:sldId id="308" r:id="rId12"/>
    <p:sldId id="338" r:id="rId13"/>
    <p:sldId id="309" r:id="rId14"/>
    <p:sldId id="322" r:id="rId15"/>
    <p:sldId id="296" r:id="rId16"/>
    <p:sldId id="298" r:id="rId17"/>
    <p:sldId id="299" r:id="rId18"/>
    <p:sldId id="327" r:id="rId19"/>
    <p:sldId id="328" r:id="rId20"/>
    <p:sldId id="323" r:id="rId21"/>
    <p:sldId id="324" r:id="rId22"/>
    <p:sldId id="329" r:id="rId23"/>
    <p:sldId id="330" r:id="rId24"/>
    <p:sldId id="331" r:id="rId25"/>
    <p:sldId id="332" r:id="rId26"/>
    <p:sldId id="333" r:id="rId27"/>
    <p:sldId id="334" r:id="rId28"/>
    <p:sldId id="340" r:id="rId29"/>
    <p:sldId id="335" r:id="rId30"/>
    <p:sldId id="336" r:id="rId31"/>
    <p:sldId id="337" r:id="rId32"/>
    <p:sldId id="325" r:id="rId33"/>
    <p:sldId id="326" r:id="rId34"/>
    <p:sldId id="339" r:id="rId35"/>
    <p:sldId id="312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0332FCD-6E2C-44E4-90C2-03A428C0D790}">
          <p14:sldIdLst>
            <p14:sldId id="294"/>
            <p14:sldId id="257"/>
            <p14:sldId id="271"/>
            <p14:sldId id="266"/>
            <p14:sldId id="285"/>
            <p14:sldId id="303"/>
            <p14:sldId id="304"/>
            <p14:sldId id="305"/>
            <p14:sldId id="306"/>
            <p14:sldId id="307"/>
            <p14:sldId id="308"/>
            <p14:sldId id="338"/>
            <p14:sldId id="309"/>
            <p14:sldId id="322"/>
            <p14:sldId id="296"/>
            <p14:sldId id="298"/>
            <p14:sldId id="299"/>
            <p14:sldId id="327"/>
            <p14:sldId id="328"/>
            <p14:sldId id="323"/>
            <p14:sldId id="324"/>
            <p14:sldId id="329"/>
            <p14:sldId id="330"/>
            <p14:sldId id="331"/>
            <p14:sldId id="332"/>
            <p14:sldId id="333"/>
            <p14:sldId id="334"/>
            <p14:sldId id="340"/>
            <p14:sldId id="335"/>
            <p14:sldId id="336"/>
            <p14:sldId id="337"/>
            <p14:sldId id="325"/>
            <p14:sldId id="326"/>
            <p14:sldId id="339"/>
            <p14:sldId id="31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17" autoAdjust="0"/>
    <p:restoredTop sz="94660"/>
  </p:normalViewPr>
  <p:slideViewPr>
    <p:cSldViewPr snapToGrid="0">
      <p:cViewPr varScale="1">
        <p:scale>
          <a:sx n="66" d="100"/>
          <a:sy n="66" d="100"/>
        </p:scale>
        <p:origin x="78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2671CA-AE16-4BF6-A4E6-C10FEA311FBA}" type="datetimeFigureOut">
              <a:rPr lang="en-IN" smtClean="0"/>
              <a:t>04-05-2024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2CF44F-8188-4F71-824A-CBF8FC264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0255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4782212c98_2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g24782212c98_2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Vismaya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4782212c98_2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g24782212c98_2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38420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9719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lvl="0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219170" lvl="1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828754" lvl="2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339" lvl="3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40719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5333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667">
                <a:solidFill>
                  <a:srgbClr val="888888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2400">
                <a:solidFill>
                  <a:srgbClr val="888888"/>
                </a:solidFill>
              </a:defRPr>
            </a:lvl2pPr>
            <a:lvl3pPr marL="1828754" lvl="2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133">
                <a:solidFill>
                  <a:srgbClr val="888888"/>
                </a:solidFill>
              </a:defRPr>
            </a:lvl3pPr>
            <a:lvl4pPr marL="2438339" lvl="3" indent="-304792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4pPr>
            <a:lvl5pPr marL="3047924" lvl="4" indent="-304792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5pPr>
            <a:lvl6pPr marL="3657509" lvl="5" indent="-304792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6pPr>
            <a:lvl7pPr marL="4267093" lvl="6" indent="-304792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7pPr>
            <a:lvl8pPr marL="4876678" lvl="7" indent="-304792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8pPr>
            <a:lvl9pPr marL="5486263" lvl="8" indent="-304792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53040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lvl="0" indent="-541853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3733"/>
            </a:lvl1pPr>
            <a:lvl2pPr marL="1219170" lvl="1" indent="-507987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3200"/>
            </a:lvl2pPr>
            <a:lvl3pPr marL="1828754" lvl="2" indent="-474121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3pPr>
            <a:lvl4pPr marL="2438339" lvl="3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2400"/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2400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body" idx="2"/>
          </p:nvPr>
        </p:nvSpPr>
        <p:spPr>
          <a:xfrm>
            <a:off x="6197600" y="1600200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lvl="0" indent="-541853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3733"/>
            </a:lvl1pPr>
            <a:lvl2pPr marL="1219170" lvl="1" indent="-507987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3200"/>
            </a:lvl2pPr>
            <a:lvl3pPr marL="1828754" lvl="2" indent="-474121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3pPr>
            <a:lvl4pPr marL="2438339" lvl="3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2400"/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2400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06517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 b="1"/>
            </a:lvl1pPr>
            <a:lvl2pPr marL="1219170" lvl="1" indent="-304792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/>
            </a:lvl2pPr>
            <a:lvl3pPr marL="1828754" lvl="2" indent="-30479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/>
            </a:lvl3pPr>
            <a:lvl4pPr marL="2438339" lvl="3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4pPr>
            <a:lvl5pPr marL="3047924" lvl="4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5pPr>
            <a:lvl6pPr marL="3657509" lvl="5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6pPr>
            <a:lvl7pPr marL="4267093" lvl="6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7pPr>
            <a:lvl8pPr marL="4876678" lvl="7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8pPr>
            <a:lvl9pPr marL="5486263" lvl="8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lvl="0" indent="-507987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00"/>
            </a:lvl1pPr>
            <a:lvl2pPr marL="1219170" lvl="1" indent="-474121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667"/>
            </a:lvl2pPr>
            <a:lvl3pPr marL="1828754" lvl="2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3pPr>
            <a:lvl4pPr marL="2438339" lvl="3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2133"/>
            </a:lvl4pPr>
            <a:lvl5pPr marL="3047924" lvl="4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2133"/>
            </a:lvl5pPr>
            <a:lvl6pPr marL="3657509" lvl="5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6pPr>
            <a:lvl7pPr marL="4267093" lvl="6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7pPr>
            <a:lvl8pPr marL="4876678" lvl="7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8pPr>
            <a:lvl9pPr marL="5486263" lvl="8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 b="1"/>
            </a:lvl1pPr>
            <a:lvl2pPr marL="1219170" lvl="1" indent="-304792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/>
            </a:lvl2pPr>
            <a:lvl3pPr marL="1828754" lvl="2" indent="-30479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/>
            </a:lvl3pPr>
            <a:lvl4pPr marL="2438339" lvl="3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4pPr>
            <a:lvl5pPr marL="3047924" lvl="4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5pPr>
            <a:lvl6pPr marL="3657509" lvl="5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6pPr>
            <a:lvl7pPr marL="4267093" lvl="6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7pPr>
            <a:lvl8pPr marL="4876678" lvl="7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8pPr>
            <a:lvl9pPr marL="5486263" lvl="8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lvl="0" indent="-507987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00"/>
            </a:lvl1pPr>
            <a:lvl2pPr marL="1219170" lvl="1" indent="-474121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667"/>
            </a:lvl2pPr>
            <a:lvl3pPr marL="1828754" lvl="2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3pPr>
            <a:lvl4pPr marL="2438339" lvl="3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2133"/>
            </a:lvl4pPr>
            <a:lvl5pPr marL="3047924" lvl="4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2133"/>
            </a:lvl5pPr>
            <a:lvl6pPr marL="3657509" lvl="5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6pPr>
            <a:lvl7pPr marL="4267093" lvl="6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7pPr>
            <a:lvl8pPr marL="4876678" lvl="7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8pPr>
            <a:lvl9pPr marL="5486263" lvl="8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88057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11925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>
            <a:spLocks noGrp="1"/>
          </p:cNvSpPr>
          <p:nvPr>
            <p:ph type="title"/>
          </p:nvPr>
        </p:nvSpPr>
        <p:spPr>
          <a:xfrm>
            <a:off x="609601" y="273051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667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1"/>
          </p:nvPr>
        </p:nvSpPr>
        <p:spPr>
          <a:xfrm>
            <a:off x="4766733" y="273052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lvl="0" indent="-575719" algn="l">
              <a:lnSpc>
                <a:spcPct val="100000"/>
              </a:lnSpc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4267"/>
            </a:lvl1pPr>
            <a:lvl2pPr marL="1219170" lvl="1" indent="-541853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3733"/>
            </a:lvl2pPr>
            <a:lvl3pPr marL="1828754" lvl="2" indent="-507987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00"/>
            </a:lvl3pPr>
            <a:lvl4pPr marL="2438339" lvl="3" indent="-474121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667"/>
            </a:lvl4pPr>
            <a:lvl5pPr marL="3047924" lvl="4" indent="-474121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667"/>
            </a:lvl5pPr>
            <a:lvl6pPr marL="3657509" lvl="5" indent="-474121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6pPr>
            <a:lvl7pPr marL="4267093" lvl="6" indent="-474121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7pPr>
            <a:lvl8pPr marL="4876678" lvl="7" indent="-474121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8pPr>
            <a:lvl9pPr marL="5486263" lvl="8" indent="-474121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1pPr>
            <a:lvl2pPr marL="1219170" lvl="1" indent="-304792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2pPr>
            <a:lvl3pPr marL="1828754" lvl="2" indent="-304792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33"/>
            </a:lvl3pPr>
            <a:lvl4pPr marL="2438339" lvl="3" indent="-304792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4pPr>
            <a:lvl5pPr marL="3047924" lvl="4" indent="-304792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5pPr>
            <a:lvl6pPr marL="3657509" lvl="5" indent="-304792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6pPr>
            <a:lvl7pPr marL="4267093" lvl="6" indent="-304792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7pPr>
            <a:lvl8pPr marL="4876678" lvl="7" indent="-304792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8pPr>
            <a:lvl9pPr marL="5486263" lvl="8" indent="-304792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97780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body" idx="1"/>
          </p:nvPr>
        </p:nvSpPr>
        <p:spPr>
          <a:xfrm rot="5400000">
            <a:off x="3833017" y="-1623219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lvl="0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219170" lvl="1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828754" lvl="2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339" lvl="3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72366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>
            <a:spLocks noGrp="1"/>
          </p:cNvSpPr>
          <p:nvPr>
            <p:ph type="title"/>
          </p:nvPr>
        </p:nvSpPr>
        <p:spPr>
          <a:xfrm rot="5400000">
            <a:off x="7285038" y="1828800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body" idx="1"/>
          </p:nvPr>
        </p:nvSpPr>
        <p:spPr>
          <a:xfrm rot="5400000">
            <a:off x="1697039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lvl="0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219170" lvl="1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828754" lvl="2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339" lvl="3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04914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-19051" y="-26987"/>
            <a:ext cx="9180515" cy="68849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5688114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70" r:id="rId9"/>
    <p:sldLayoutId id="2147483671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/>
        </p:nvSpPr>
        <p:spPr>
          <a:xfrm>
            <a:off x="1289054" y="6357959"/>
            <a:ext cx="10331485" cy="50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85342" defTabSz="1219170">
              <a:buClr>
                <a:srgbClr val="9BBB59"/>
              </a:buClr>
              <a:buSzPts val="2000"/>
            </a:pPr>
            <a:endParaRPr sz="2667" kern="0">
              <a:solidFill>
                <a:srgbClr val="1F497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5"/>
          <p:cNvSpPr/>
          <p:nvPr/>
        </p:nvSpPr>
        <p:spPr>
          <a:xfrm>
            <a:off x="12369" y="1240187"/>
            <a:ext cx="12192000" cy="1695104"/>
          </a:xfrm>
          <a:prstGeom prst="rect">
            <a:avLst/>
          </a:prstGeom>
          <a:solidFill>
            <a:srgbClr val="E35F13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 defTabSz="1219170">
              <a:buClr>
                <a:srgbClr val="000000"/>
              </a:buClr>
              <a:buSzPts val="2800"/>
            </a:pPr>
            <a:r>
              <a:rPr lang="en-IN" sz="3733" b="1" kern="0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Design of  Spell-checker and Grammar-checker for Kannada Documents</a:t>
            </a:r>
          </a:p>
          <a:p>
            <a:pPr algn="ctr" defTabSz="1219170">
              <a:buClr>
                <a:srgbClr val="000000"/>
              </a:buClr>
              <a:buSzPts val="2800"/>
            </a:pPr>
            <a:r>
              <a:rPr lang="en-IN" sz="2800" b="1" kern="0" dirty="0">
                <a:solidFill>
                  <a:srgbClr val="FFFF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Arial"/>
              </a:rPr>
              <a:t>20IS83P</a:t>
            </a:r>
            <a:r>
              <a:rPr lang="en-IN" sz="2800" b="1" kern="0" dirty="0">
                <a:solidFill>
                  <a:srgbClr val="FFFF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-Phase 2 Review 3</a:t>
            </a:r>
            <a:endParaRPr lang="en-IN" sz="2800" b="1" kern="0" dirty="0">
              <a:solidFill>
                <a:srgbClr val="FFFF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33" name="Google Shape;133;p25"/>
          <p:cNvSpPr txBox="1"/>
          <p:nvPr/>
        </p:nvSpPr>
        <p:spPr>
          <a:xfrm>
            <a:off x="-641" y="1258383"/>
            <a:ext cx="12192400" cy="107700"/>
          </a:xfrm>
          <a:prstGeom prst="rect">
            <a:avLst/>
          </a:prstGeom>
          <a:solidFill>
            <a:srgbClr val="00405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defTabSz="1219170">
              <a:buClr>
                <a:srgbClr val="000000"/>
              </a:buClr>
              <a:buSzPts val="100"/>
            </a:pPr>
            <a:endParaRPr sz="133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-643" y="2953489"/>
            <a:ext cx="12192400" cy="107700"/>
          </a:xfrm>
          <a:prstGeom prst="rect">
            <a:avLst/>
          </a:prstGeom>
          <a:solidFill>
            <a:srgbClr val="00405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defTabSz="1219170">
              <a:buClr>
                <a:srgbClr val="000000"/>
              </a:buClr>
              <a:buSzPts val="100"/>
            </a:pPr>
            <a:endParaRPr sz="133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F43A2CF-C248-CD4E-D02A-896EDA3F4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2320" y="4637474"/>
            <a:ext cx="5859437" cy="1374283"/>
          </a:xfrm>
        </p:spPr>
        <p:txBody>
          <a:bodyPr/>
          <a:lstStyle/>
          <a:p>
            <a:br>
              <a:rPr lang="en-IN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  <a:br>
              <a:rPr lang="en-IN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Ananya M                             01JST20IS008</a:t>
            </a:r>
            <a:br>
              <a:rPr lang="en-IN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Dhanya</a:t>
            </a:r>
            <a:r>
              <a:rPr lang="en-IN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 Hegde                  01JST20IS016</a:t>
            </a:r>
            <a:br>
              <a:rPr lang="en-IN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Dhanika Gowda D                01JST20IS054</a:t>
            </a:r>
            <a:br>
              <a:rPr lang="en-IN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A743DFDA-8DC0-79DE-31EA-79EEBF4AB2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6769" y="3871418"/>
            <a:ext cx="10363200" cy="1500187"/>
          </a:xfrm>
        </p:spPr>
        <p:txBody>
          <a:bodyPr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pPr algn="ctr"/>
            <a:r>
              <a:rPr lang="en-I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 J </a:t>
            </a:r>
            <a:r>
              <a:rPr lang="en-I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Prathibha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</a:t>
            </a:r>
          </a:p>
          <a:p>
            <a:pPr algn="ctr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Information Science and Engineering</a:t>
            </a:r>
          </a:p>
          <a:p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FF10FE-18EA-5761-6D0D-B246F1B7485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1219170"/>
            <a:r>
              <a:rPr lang="en" kern="0" dirty="0"/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9E7628A-F737-3A81-2843-BB0EAF1F01DD}"/>
              </a:ext>
            </a:extLst>
          </p:cNvPr>
          <p:cNvSpPr txBox="1"/>
          <p:nvPr/>
        </p:nvSpPr>
        <p:spPr>
          <a:xfrm>
            <a:off x="630991" y="570433"/>
            <a:ext cx="104915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4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Introduction </a:t>
            </a:r>
            <a:endParaRPr lang="en-IN" sz="4800" b="1" kern="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Arial"/>
              <a:sym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12B1C4-E3BE-0D9F-76E0-1545E72CB7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1219170"/>
            <a:fld id="{00000000-1234-1234-1234-123412341234}" type="slidenum">
              <a:rPr lang="en" kern="0"/>
              <a:pPr defTabSz="1219170"/>
              <a:t>2</a:t>
            </a:fld>
            <a:endParaRPr lang="en" kern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D8DC93-0AA5-9D7B-E136-0CE572018E21}"/>
              </a:ext>
            </a:extLst>
          </p:cNvPr>
          <p:cNvSpPr txBox="1"/>
          <p:nvPr/>
        </p:nvSpPr>
        <p:spPr>
          <a:xfrm>
            <a:off x="630992" y="1587563"/>
            <a:ext cx="10679289" cy="37862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189" indent="-457189" algn="just" defTabSz="121917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667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Grammatical Error Correction (GEC) involves detecting and correcting grammatical errors in sentences, including spelling mistakes, article misuse, prepositions, pronouns, nouns, and poor sentence construction.</a:t>
            </a:r>
          </a:p>
          <a:p>
            <a:pPr marL="457189" indent="-457189" algn="just" defTabSz="121917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667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NLP technology equips machines to understand and rectify various grammatical nuances in text.</a:t>
            </a:r>
          </a:p>
          <a:p>
            <a:pPr marL="457189" indent="-457189" algn="just" defTabSz="121917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IN" sz="2667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The GEC model for Kannada is a pioneering initiative using NLP technology.</a:t>
            </a:r>
          </a:p>
          <a:p>
            <a:pPr marL="457189" indent="-457189" algn="just" defTabSz="121917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667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It aims to make written Kannada better by studying the details of Kannada grammar, how words are put together, and the words used.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5271A-6E17-11C4-4F13-B55D9B030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47676"/>
            <a:ext cx="10972800" cy="1143000"/>
          </a:xfrm>
        </p:spPr>
        <p:txBody>
          <a:bodyPr/>
          <a:lstStyle/>
          <a:p>
            <a:r>
              <a:rPr lang="en-IN" sz="48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Problem statement</a:t>
            </a:r>
            <a:br>
              <a:rPr lang="en-IN" sz="48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34EFEE-02C0-E73B-A22D-90E11D21E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18229"/>
            <a:ext cx="10972800" cy="4525963"/>
          </a:xfrm>
        </p:spPr>
        <p:txBody>
          <a:bodyPr/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US" sz="267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unga" panose="020B0502040204020203" pitchFamily="34" charset="0"/>
              </a:rPr>
              <a:t>Kannada has a unique linguistic structure, and publicly no Kannada grammar-correcting tools are available. Hence development of a tool to fix spelling and grammar errors in Kannada documents is proposed in this project.</a:t>
            </a:r>
            <a:endParaRPr lang="en-IN" sz="267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unga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72719-5A03-1646-C86D-86D0C6C41C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1219170"/>
            <a:fld id="{00000000-1234-1234-1234-123412341234}" type="slidenum">
              <a:rPr lang="en" kern="0"/>
              <a:pPr defTabSz="1219170"/>
              <a:t>3</a:t>
            </a:fld>
            <a:endParaRPr lang="en" kern="0"/>
          </a:p>
        </p:txBody>
      </p:sp>
    </p:spTree>
    <p:extLst>
      <p:ext uri="{BB962C8B-B14F-4D97-AF65-F5344CB8AC3E}">
        <p14:creationId xmlns:p14="http://schemas.microsoft.com/office/powerpoint/2010/main" val="1089863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5449C7-F6B7-5069-2A6D-BFF00F207113}"/>
              </a:ext>
            </a:extLst>
          </p:cNvPr>
          <p:cNvSpPr txBox="1"/>
          <p:nvPr/>
        </p:nvSpPr>
        <p:spPr>
          <a:xfrm>
            <a:off x="0" y="721455"/>
            <a:ext cx="10620376" cy="949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 algn="just" defTabSz="1219170"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sz="24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380990" indent="-380990" algn="just" defTabSz="121917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IN" sz="24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13AE9C7-99BA-3E70-D80C-69636929F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Objectives</a:t>
            </a:r>
            <a:endParaRPr lang="en-IN" sz="4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6297AA-7357-3056-6122-0DA819DABB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67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Creation of Kannada lexicon for spell-checking.</a:t>
            </a:r>
            <a:endParaRPr lang="en-US" sz="267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67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Creation of a labelled dataset for grammatical error detection.</a:t>
            </a:r>
            <a:endParaRPr lang="en-US" sz="267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67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Spell checker: </a:t>
            </a:r>
            <a:r>
              <a:rPr lang="en-US" sz="267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Detects misspelt words and offers suggestions, ensuring accurate spellings.</a:t>
            </a:r>
            <a:endParaRPr lang="en-US" sz="267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67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Grammatical error detection using the BERT model.</a:t>
            </a:r>
            <a:endParaRPr lang="en-US" sz="267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67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Grammatical error correction by </a:t>
            </a:r>
            <a:r>
              <a:rPr lang="en-US" sz="267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identifying and correcting grammatical errors based on subject-verb agreement.</a:t>
            </a:r>
            <a:endParaRPr lang="en-US" sz="267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00FEA8-278A-1629-1657-C8FD2090E5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1219170"/>
            <a:fld id="{00000000-1234-1234-1234-123412341234}" type="slidenum">
              <a:rPr lang="en" kern="0"/>
              <a:pPr defTabSz="1219170"/>
              <a:t>4</a:t>
            </a:fld>
            <a:endParaRPr lang="en" kern="0"/>
          </a:p>
        </p:txBody>
      </p:sp>
    </p:spTree>
    <p:extLst>
      <p:ext uri="{BB962C8B-B14F-4D97-AF65-F5344CB8AC3E}">
        <p14:creationId xmlns:p14="http://schemas.microsoft.com/office/powerpoint/2010/main" val="1802363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22785-D1AE-8FFD-849F-8EB045701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Specification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9F81D2-8F6D-93E0-CA73-33595DAC22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396" indent="0" algn="ctr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</a:p>
          <a:p>
            <a:pPr marL="152396" indent="0">
              <a:buNone/>
            </a:pPr>
            <a:endParaRPr lang="en-IN" sz="2667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Spelling error detection and correction</a:t>
            </a:r>
          </a:p>
          <a:p>
            <a:r>
              <a:rPr lang="en-IN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Grammar error detection and correction</a:t>
            </a:r>
          </a:p>
          <a:p>
            <a:r>
              <a:rPr lang="en-IN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Pre-trained model selection</a:t>
            </a:r>
          </a:p>
          <a:p>
            <a:r>
              <a:rPr lang="en-IN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 tuning process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7C067-00FE-817C-B7F4-9DC82CA4C6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1219170"/>
            <a:fld id="{00000000-1234-1234-1234-123412341234}" type="slidenum">
              <a:rPr lang="en" kern="0"/>
              <a:pPr defTabSz="1219170"/>
              <a:t>5</a:t>
            </a:fld>
            <a:endParaRPr lang="en" kern="0"/>
          </a:p>
        </p:txBody>
      </p:sp>
    </p:spTree>
    <p:extLst>
      <p:ext uri="{BB962C8B-B14F-4D97-AF65-F5344CB8AC3E}">
        <p14:creationId xmlns:p14="http://schemas.microsoft.com/office/powerpoint/2010/main" val="3630604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6B12F-82AF-E981-3DB4-807880153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8E657C-089C-11B2-00F3-F4FCB8221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396" indent="0" algn="ctr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</a:t>
            </a:r>
          </a:p>
          <a:p>
            <a:pPr marL="152396" indent="0">
              <a:buNone/>
            </a:pPr>
            <a:endParaRPr lang="en-IN" sz="2667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</a:p>
          <a:p>
            <a:r>
              <a:rPr lang="en-IN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time</a:t>
            </a:r>
          </a:p>
          <a:p>
            <a:r>
              <a:rPr lang="en-IN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resource utilization</a:t>
            </a:r>
          </a:p>
          <a:p>
            <a:r>
              <a:rPr lang="en-IN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of grammar correction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05096C-0A72-C771-59C7-709E6DA24B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1219170"/>
            <a:fld id="{00000000-1234-1234-1234-123412341234}" type="slidenum">
              <a:rPr lang="en" kern="0"/>
              <a:pPr defTabSz="1219170"/>
              <a:t>6</a:t>
            </a:fld>
            <a:endParaRPr lang="en" kern="0"/>
          </a:p>
        </p:txBody>
      </p:sp>
    </p:spTree>
    <p:extLst>
      <p:ext uri="{BB962C8B-B14F-4D97-AF65-F5344CB8AC3E}">
        <p14:creationId xmlns:p14="http://schemas.microsoft.com/office/powerpoint/2010/main" val="2035069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824EC-6BFF-93DE-B9C1-3F4E1107D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FB57B1-1E9B-E85C-4A68-D15F1DD247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396" indent="0" algn="ctr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 marL="152396" indent="0" algn="ctr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4-core CPU</a:t>
            </a:r>
          </a:p>
          <a:p>
            <a:r>
              <a:rPr lang="en-IN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least 8 GB of RAM</a:t>
            </a:r>
          </a:p>
          <a:p>
            <a:r>
              <a:rPr lang="en-IN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computational device capable of running a modern browser</a:t>
            </a:r>
          </a:p>
          <a:p>
            <a:pPr marL="152396" indent="0">
              <a:buNone/>
            </a:pPr>
            <a:endParaRPr lang="en-IN" sz="26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158A87-A008-FC3F-038D-5A1DF04622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1219170"/>
            <a:fld id="{00000000-1234-1234-1234-123412341234}" type="slidenum">
              <a:rPr lang="en" kern="0"/>
              <a:pPr defTabSz="1219170"/>
              <a:t>7</a:t>
            </a:fld>
            <a:endParaRPr lang="en" kern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73B35E-40DA-C037-139D-4F6983878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</p:spPr>
        <p:txBody>
          <a:bodyPr/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Specifications</a:t>
            </a:r>
          </a:p>
        </p:txBody>
      </p:sp>
    </p:spTree>
    <p:extLst>
      <p:ext uri="{BB962C8B-B14F-4D97-AF65-F5344CB8AC3E}">
        <p14:creationId xmlns:p14="http://schemas.microsoft.com/office/powerpoint/2010/main" val="4230579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7ADE6-9736-B7F1-3174-C0323A0B1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6B6E71-0904-7E84-D345-4167BF605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396" indent="0" algn="ctr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marL="152396" indent="0">
              <a:buNone/>
            </a:pPr>
            <a:endParaRPr lang="en-IN" sz="2667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least Python 3.7 with Python-based dependencies</a:t>
            </a:r>
          </a:p>
          <a:p>
            <a:r>
              <a:rPr lang="en-IN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system- Windows, Mac or Linux</a:t>
            </a:r>
          </a:p>
          <a:p>
            <a:pPr marL="152396" indent="0">
              <a:buNone/>
            </a:pPr>
            <a:endParaRPr lang="en-IN" sz="26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972FA3-277E-FB71-0E62-4705389957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1219170"/>
            <a:fld id="{00000000-1234-1234-1234-123412341234}" type="slidenum">
              <a:rPr lang="en" kern="0"/>
              <a:pPr defTabSz="1219170"/>
              <a:t>8</a:t>
            </a:fld>
            <a:endParaRPr lang="en" kern="0"/>
          </a:p>
        </p:txBody>
      </p:sp>
    </p:spTree>
    <p:extLst>
      <p:ext uri="{BB962C8B-B14F-4D97-AF65-F5344CB8AC3E}">
        <p14:creationId xmlns:p14="http://schemas.microsoft.com/office/powerpoint/2010/main" val="2659511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70AD294-73BB-DFF7-B1FE-1064041E5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601807"/>
            <a:ext cx="10972800" cy="1143000"/>
          </a:xfrm>
        </p:spPr>
        <p:txBody>
          <a:bodyPr/>
          <a:lstStyle/>
          <a:p>
            <a:r>
              <a:rPr lang="en-US" sz="4800" b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Architecture and Design</a:t>
            </a:r>
            <a:endParaRPr lang="en-US" sz="4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7D3675-6FAD-8F26-8B83-4D1ABDA47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744807"/>
            <a:ext cx="5384800" cy="4381356"/>
          </a:xfrm>
        </p:spPr>
        <p:txBody>
          <a:bodyPr/>
          <a:lstStyle/>
          <a:p>
            <a:pPr marL="152396" indent="0" algn="ctr">
              <a:buNone/>
            </a:pPr>
            <a:r>
              <a:rPr lang="en-US" sz="3200" b="1" kern="1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unga" panose="020B0502040204020203" pitchFamily="34" charset="0"/>
              </a:rPr>
              <a:t>High Level Design</a:t>
            </a:r>
          </a:p>
          <a:p>
            <a:pPr marL="152396" indent="0">
              <a:buNone/>
            </a:pPr>
            <a:endParaRPr lang="en-US" sz="1800" b="1" kern="100" dirty="0">
              <a:solidFill>
                <a:srgbClr val="222222"/>
              </a:solidFill>
              <a:latin typeface="Times New Roman" panose="02020603050405020304" pitchFamily="18" charset="0"/>
              <a:ea typeface="Calibri" panose="020F0502020204030204" pitchFamily="34" charset="0"/>
              <a:cs typeface="Tunga" panose="020B0502040204020203" pitchFamily="34" charset="0"/>
            </a:endParaRPr>
          </a:p>
          <a:p>
            <a:pPr marL="152396" indent="0">
              <a:buNone/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unga" panose="020B0502040204020203" pitchFamily="34" charset="0"/>
            </a:endParaRPr>
          </a:p>
          <a:p>
            <a:pPr marL="152396" indent="0">
              <a:buNone/>
            </a:pP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A92D55-8BBD-FD4C-A725-024D361AD75A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algn="just"/>
            <a:r>
              <a:rPr lang="en-IN" sz="2670" spc="1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Database of Kannada corpus</a:t>
            </a:r>
          </a:p>
          <a:p>
            <a:pPr algn="just"/>
            <a:r>
              <a:rPr lang="en-IN" sz="2670" spc="1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Data preprocessing using tokenization</a:t>
            </a:r>
            <a:endParaRPr lang="en-IN" sz="2670" spc="1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/>
            <a:r>
              <a:rPr lang="en-IN" sz="2670" spc="1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Divide the data into Train, Test, and Validation sets</a:t>
            </a:r>
          </a:p>
          <a:p>
            <a:pPr algn="just"/>
            <a:r>
              <a:rPr lang="en-IN" sz="2670" spc="1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Load BERT model and compile for Training Data</a:t>
            </a:r>
            <a:endParaRPr lang="en-IN" sz="2670" spc="1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/>
            <a:r>
              <a:rPr lang="en-IN" sz="2670" spc="1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Performance Evaluation using Test Data and Freeze the Model</a:t>
            </a:r>
          </a:p>
          <a:p>
            <a:pPr algn="just"/>
            <a:r>
              <a:rPr lang="en-IN" sz="2670" spc="1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Hyper-parameter Tuning for Performance Optimization</a:t>
            </a:r>
            <a:endParaRPr lang="en-US" sz="267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A908E8-AD3C-28C0-575B-466861562D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9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9FEC72-D438-A5C5-C0D9-2CC992D37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09" y="2476196"/>
            <a:ext cx="6166459" cy="31545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1EDB21F-AC79-D940-724D-A2AE132AE1EF}"/>
              </a:ext>
            </a:extLst>
          </p:cNvPr>
          <p:cNvSpPr txBox="1"/>
          <p:nvPr/>
        </p:nvSpPr>
        <p:spPr>
          <a:xfrm>
            <a:off x="143246" y="5754864"/>
            <a:ext cx="6091722" cy="64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2670" kern="0" spc="1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unga" panose="020B0502040204020203" pitchFamily="34" charset="0"/>
              </a:rPr>
              <a:t>Figure 1- High-level design</a:t>
            </a:r>
            <a:endParaRPr lang="en-US" sz="2670" kern="100" dirty="0">
              <a:effectLst/>
              <a:highlight>
                <a:srgbClr val="FFFFFF"/>
              </a:highlight>
              <a:latin typeface="Calibri" panose="020F0502020204030204" pitchFamily="34" charset="0"/>
              <a:ea typeface="Calibri" panose="020F0502020204030204" pitchFamily="34" charset="0"/>
              <a:cs typeface="Tunga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4707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5C062-DB00-E3F9-0E84-B6CA7D36B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193" y="1087881"/>
            <a:ext cx="10972800" cy="564262"/>
          </a:xfrm>
        </p:spPr>
        <p:txBody>
          <a:bodyPr/>
          <a:lstStyle/>
          <a:p>
            <a:r>
              <a:rPr lang="en-IN" sz="3200" b="1" kern="100" spc="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unga" panose="020B0502040204020203" pitchFamily="34" charset="0"/>
              </a:rPr>
              <a:t>Low Level Design</a:t>
            </a: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unga" panose="020B0502040204020203" pitchFamily="34" charset="0"/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A764CC-628D-BEA0-332D-56D061FB8C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333850"/>
            <a:ext cx="5384800" cy="4792313"/>
          </a:xfrm>
        </p:spPr>
        <p:txBody>
          <a:bodyPr/>
          <a:lstStyle/>
          <a:p>
            <a:pPr marL="152396" indent="0" algn="ctr">
              <a:buNone/>
            </a:pPr>
            <a:r>
              <a:rPr lang="en-IN" sz="3200" b="1" kern="100" spc="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unga" panose="020B0502040204020203" pitchFamily="34" charset="0"/>
              </a:rPr>
              <a:t>Spell checking and correction </a:t>
            </a:r>
          </a:p>
          <a:p>
            <a:pPr marL="152396" indent="0">
              <a:buNone/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unga" panose="020B0502040204020203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75EE170-85DA-A91B-2288-8DCFC790446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019721" y="1946246"/>
            <a:ext cx="5384800" cy="4179916"/>
          </a:xfrm>
        </p:spPr>
        <p:txBody>
          <a:bodyPr/>
          <a:lstStyle/>
          <a:p>
            <a:r>
              <a:rPr lang="en-IN" sz="2670" spc="1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Importing Hunspell Library</a:t>
            </a:r>
          </a:p>
          <a:p>
            <a:r>
              <a:rPr lang="en-IN" sz="2670" spc="1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Initializing Hunspell</a:t>
            </a:r>
            <a:endParaRPr lang="en-IN" sz="2670" spc="1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IN" sz="2670" spc="1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Tokenizing the Text</a:t>
            </a:r>
          </a:p>
          <a:p>
            <a:r>
              <a:rPr lang="en-IN" sz="2670" spc="1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Checking and Correcting Spelling</a:t>
            </a:r>
            <a:endParaRPr lang="en-IN" sz="2670" spc="1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IN" sz="2670" spc="1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Joining Corrected Words</a:t>
            </a:r>
          </a:p>
          <a:p>
            <a:r>
              <a:rPr lang="en-IN" sz="2670" spc="1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Returning Corrected Text</a:t>
            </a:r>
            <a:endParaRPr lang="en-US" sz="267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1D2F1E-45D6-975E-EC0D-DCFBE528A7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10</a:t>
            </a:fld>
            <a:endParaRPr lang="en"/>
          </a:p>
        </p:txBody>
      </p:sp>
      <p:pic>
        <p:nvPicPr>
          <p:cNvPr id="8" name="Picture 7" descr="A diagram of a person's hand&#10;&#10;Description automatically generated">
            <a:extLst>
              <a:ext uri="{FF2B5EF4-FFF2-40B4-BE49-F238E27FC236}">
                <a16:creationId xmlns:a16="http://schemas.microsoft.com/office/drawing/2014/main" id="{B123E816-5F9E-8F5D-66C6-04F5529ACF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29" y="2587006"/>
            <a:ext cx="6858000" cy="2286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95AEF8-347D-73B8-082E-219CCD9D9A87}"/>
              </a:ext>
            </a:extLst>
          </p:cNvPr>
          <p:cNvSpPr txBox="1"/>
          <p:nvPr/>
        </p:nvSpPr>
        <p:spPr>
          <a:xfrm>
            <a:off x="529390" y="5024387"/>
            <a:ext cx="6246796" cy="634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26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2- Spell checking and correction</a:t>
            </a:r>
            <a:endParaRPr lang="en-US" sz="267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0283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BAC7887-93D7-B91B-0A6E-FF909689B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090569"/>
            <a:ext cx="5486399" cy="4949504"/>
          </a:xfrm>
        </p:spPr>
        <p:txBody>
          <a:bodyPr/>
          <a:lstStyle/>
          <a:p>
            <a:pPr marL="67732" indent="0" algn="ctr">
              <a:buNone/>
            </a:pPr>
            <a:r>
              <a:rPr lang="en-IN" sz="3200" b="1" kern="100" spc="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Grammatical error detection</a:t>
            </a:r>
            <a:br>
              <a:rPr lang="en-US" sz="267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26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C515384-7724-722C-342D-9580DB171C5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807200" y="1510018"/>
            <a:ext cx="5384800" cy="4530055"/>
          </a:xfrm>
        </p:spPr>
        <p:txBody>
          <a:bodyPr/>
          <a:lstStyle/>
          <a:p>
            <a:pPr algn="just"/>
            <a:r>
              <a:rPr lang="en-IN" sz="2670" spc="1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Database of Kannada Corpus</a:t>
            </a:r>
          </a:p>
          <a:p>
            <a:pPr algn="just"/>
            <a:r>
              <a:rPr lang="en-IN" sz="2670" spc="1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Data Preprocessing using Tokenization</a:t>
            </a:r>
            <a:endParaRPr lang="en-IN" sz="2670" spc="1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/>
            <a:r>
              <a:rPr lang="en-IN" sz="2670" spc="1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Divide the Data into Train, Test, and Validation Sets</a:t>
            </a:r>
          </a:p>
          <a:p>
            <a:pPr algn="just"/>
            <a:r>
              <a:rPr lang="en-IN" sz="2670" spc="1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Load BERT Model and Compile for Training Data</a:t>
            </a:r>
            <a:endParaRPr lang="en-IN" sz="2670" spc="1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/>
            <a:r>
              <a:rPr lang="en-IN" sz="2670" spc="1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Performance Evaluation using Test Data and Freeze the Model</a:t>
            </a:r>
          </a:p>
          <a:p>
            <a:pPr algn="just"/>
            <a:r>
              <a:rPr lang="en-IN" sz="2670" spc="1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Hyperparameter Tuning for Performance Optimization</a:t>
            </a:r>
            <a:endParaRPr lang="en-US" sz="267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6C41A-EBC3-89E5-63E8-95E1286CEE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11</a:t>
            </a:fld>
            <a:endParaRPr lang="en"/>
          </a:p>
        </p:txBody>
      </p:sp>
      <p:pic>
        <p:nvPicPr>
          <p:cNvPr id="3" name="Picture 2" descr="A diagram of a diagram&#10;&#10;Description automatically generated">
            <a:extLst>
              <a:ext uri="{FF2B5EF4-FFF2-40B4-BE49-F238E27FC236}">
                <a16:creationId xmlns:a16="http://schemas.microsoft.com/office/drawing/2014/main" id="{46B2AC63-1F0D-B6FE-A0A7-BB7E527BD8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32045"/>
            <a:ext cx="6858000" cy="2286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A9EDDE3-950C-4991-5A2D-FDB93EA38819}"/>
              </a:ext>
            </a:extLst>
          </p:cNvPr>
          <p:cNvSpPr txBox="1"/>
          <p:nvPr/>
        </p:nvSpPr>
        <p:spPr>
          <a:xfrm>
            <a:off x="491957" y="5438274"/>
            <a:ext cx="6131293" cy="780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3- Grammatical error detection </a:t>
            </a:r>
            <a:endParaRPr lang="en-US" sz="267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153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AD816-F699-6D9A-544D-9E245D13F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sz="3200" b="1" kern="100" spc="1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unga" panose="020B0502040204020203" pitchFamily="34" charset="0"/>
              </a:rPr>
              <a:t>Grammatical error correction</a:t>
            </a:r>
            <a:endParaRPr lang="en-US" sz="32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9A0F9A-4F4E-C013-5EC4-AC1868AFB95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190072" y="1193533"/>
            <a:ext cx="4620126" cy="4884504"/>
          </a:xfrm>
        </p:spPr>
        <p:txBody>
          <a:bodyPr/>
          <a:lstStyle/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approach for grammatical error correction in Kannada.</a:t>
            </a:r>
          </a:p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subject-verb agreement errors.</a:t>
            </a:r>
          </a:p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subject and verb within the sentence.</a:t>
            </a:r>
          </a:p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rules to ensure agreement between them.</a:t>
            </a:r>
          </a:p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Tailored to linguistic nuances of Kannada language.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0C9915-FB33-FD7E-9496-FAE9D7431A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12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05E2B2-F9F5-4234-454A-B9ED9C8FE8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749" y="1748355"/>
            <a:ext cx="6713218" cy="213062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AF450C-709B-0B36-0566-72AB48DACFF9}"/>
              </a:ext>
            </a:extLst>
          </p:cNvPr>
          <p:cNvSpPr txBox="1"/>
          <p:nvPr/>
        </p:nvSpPr>
        <p:spPr>
          <a:xfrm>
            <a:off x="272748" y="4475747"/>
            <a:ext cx="6128051" cy="91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70" kern="100" spc="1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unga" panose="020B0502040204020203" pitchFamily="34" charset="0"/>
              </a:rPr>
              <a:t>Figure 4- Grammatical error correction</a:t>
            </a:r>
            <a:endParaRPr lang="en-US" sz="2670" kern="100" dirty="0">
              <a:effectLst/>
              <a:highlight>
                <a:srgbClr val="FFFFFF"/>
              </a:highlight>
              <a:latin typeface="Calibri" panose="020F0502020204030204" pitchFamily="34" charset="0"/>
              <a:ea typeface="Calibri" panose="020F0502020204030204" pitchFamily="34" charset="0"/>
              <a:cs typeface="Tunga" panose="020B0502040204020203" pitchFamily="34" charset="0"/>
            </a:endParaRPr>
          </a:p>
          <a:p>
            <a:endParaRPr lang="en-US" sz="2670" dirty="0"/>
          </a:p>
        </p:txBody>
      </p:sp>
    </p:spTree>
    <p:extLst>
      <p:ext uri="{BB962C8B-B14F-4D97-AF65-F5344CB8AC3E}">
        <p14:creationId xmlns:p14="http://schemas.microsoft.com/office/powerpoint/2010/main" val="2458327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8B4650-7441-D905-FB2F-75431257F5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2290" y="1892724"/>
            <a:ext cx="10972800" cy="4122599"/>
          </a:xfrm>
        </p:spPr>
        <p:txBody>
          <a:bodyPr/>
          <a:lstStyle/>
          <a:p>
            <a:pPr marL="152396" indent="0" algn="ctr">
              <a:buNone/>
            </a:pPr>
            <a:r>
              <a:rPr lang="en-IN" b="1" kern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Spell Checking and Correction using Hunspell</a:t>
            </a:r>
          </a:p>
          <a:p>
            <a:pPr marL="152396" indent="0" algn="just">
              <a:buNone/>
            </a:pPr>
            <a:endParaRPr lang="en-US" sz="2670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52396" indent="0">
              <a:buNone/>
            </a:pPr>
            <a:r>
              <a:rPr lang="en-US" sz="267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Hunspell</a:t>
            </a:r>
            <a:r>
              <a:rPr lang="en-US" sz="267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7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 an open-source spell-checking and morphological analysis library, now widely used across languages and applications</a:t>
            </a:r>
            <a:r>
              <a:rPr lang="en-US" sz="267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C45C2-CCA2-5F2B-1FA0-A2BC987CC7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13</a:t>
            </a:fld>
            <a:endParaRPr lang="e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46FB31-B8FC-5CD0-7D46-98700B153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8696"/>
            <a:ext cx="10972800" cy="1143000"/>
          </a:xfrm>
        </p:spPr>
        <p:txBody>
          <a:bodyPr/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1799843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3AFCA1-DF06-A24C-C03C-A438091E3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6859" y="911831"/>
            <a:ext cx="10972800" cy="4525963"/>
          </a:xfrm>
        </p:spPr>
        <p:txBody>
          <a:bodyPr/>
          <a:lstStyle/>
          <a:p>
            <a:pPr marL="152396" marR="0" lvl="0" indent="0" algn="ctr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IN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Working of Hunspell</a:t>
            </a:r>
          </a:p>
          <a:p>
            <a:pPr marL="152396" marR="0" lvl="0" indent="0" algn="just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lang="en-US" sz="267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Calibri"/>
            </a:endParaRPr>
          </a:p>
          <a:p>
            <a:pPr marL="609585" marR="0" lvl="0" indent="-457189" algn="just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67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Spell Checking</a:t>
            </a:r>
            <a:endParaRPr kumimoji="0" lang="en-US" sz="267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  <a:p>
            <a:pPr marL="609585" marR="0" lvl="0" indent="-457189" algn="just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67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Morphological Analysis</a:t>
            </a:r>
            <a:endParaRPr kumimoji="0" lang="en-US" sz="267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  <a:p>
            <a:pPr marL="609585" marR="0" lvl="0" indent="-457189" algn="just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67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Affix File Support</a:t>
            </a:r>
            <a:endParaRPr kumimoji="0" lang="en-US" sz="267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  <a:p>
            <a:pPr marL="609585" marR="0" lvl="0" indent="-457189" algn="just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67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Multi-Language Support</a:t>
            </a:r>
            <a:endParaRPr kumimoji="0" lang="en-US" sz="267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  <a:p>
            <a:pPr marL="609585" marR="0" lvl="0" indent="-457189" algn="just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67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Open Source and Cross-Platform</a:t>
            </a:r>
            <a:endParaRPr kumimoji="0" lang="en-US" sz="267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  <a:p>
            <a:pPr marL="609585" marR="0" lvl="0" indent="-457189" algn="just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67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Integration with Software Applications</a:t>
            </a:r>
            <a:endParaRPr kumimoji="0" lang="en-US" sz="267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B06C8E-AE91-81E4-29AF-FB47587864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73672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C7620-EFC3-002C-91CE-9806F424FE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396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Grammatical error detection using BERT Model</a:t>
            </a:r>
          </a:p>
          <a:p>
            <a:pPr marL="152396" indent="0" algn="just">
              <a:buNone/>
            </a:pPr>
            <a:endParaRPr lang="en-IN" sz="2667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 is a transformer-based neural network architecture designed for understanding the context of words in a sentence.</a:t>
            </a:r>
          </a:p>
          <a:p>
            <a:pPr algn="just"/>
            <a:r>
              <a:rPr lang="en-US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other models, BERT is bidirectional, allowing it to consider both left and right context words simultaneously.</a:t>
            </a:r>
          </a:p>
          <a:p>
            <a:pPr marL="152396" indent="0" algn="just">
              <a:buNone/>
            </a:pPr>
            <a:endParaRPr lang="en-IN" sz="2667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7D12AA-D94D-0006-32D3-436297999D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1219170"/>
            <a:fld id="{00000000-1234-1234-1234-123412341234}" type="slidenum">
              <a:rPr lang="en" kern="0"/>
              <a:pPr defTabSz="1219170"/>
              <a:t>15</a:t>
            </a:fld>
            <a:endParaRPr lang="en" kern="0"/>
          </a:p>
        </p:txBody>
      </p:sp>
    </p:spTree>
    <p:extLst>
      <p:ext uri="{BB962C8B-B14F-4D97-AF65-F5344CB8AC3E}">
        <p14:creationId xmlns:p14="http://schemas.microsoft.com/office/powerpoint/2010/main" val="8194516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E19D0-5822-9D0D-B8D4-DA044F5C3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277" y="708025"/>
            <a:ext cx="10972800" cy="1143000"/>
          </a:xfrm>
        </p:spPr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of BERT Model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097289-38AC-F8A7-FD75-41E4E5EE836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06277" y="2012950"/>
            <a:ext cx="11613884" cy="4525963"/>
          </a:xfrm>
        </p:spPr>
        <p:txBody>
          <a:bodyPr/>
          <a:lstStyle/>
          <a:p>
            <a:pPr marL="67732" indent="0" algn="just">
              <a:buNone/>
            </a:pPr>
            <a:r>
              <a:rPr lang="en-US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 uses Transformer, an attention mechanism that learns contextual relations between words (or sub-words) in a text. In its vanilla form, Transformer includes two separate mechanisms — an encoder that reads the text input and a decoder that produces a prediction for the task. Since BERT’s goal is to generate a language model, only the encoder mechanism is necessary. </a:t>
            </a:r>
            <a:br>
              <a:rPr lang="en-US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6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667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278054-E891-40E7-8B3C-1B4278FD33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1219170"/>
            <a:fld id="{00000000-1234-1234-1234-123412341234}" type="slidenum">
              <a:rPr lang="en" kern="0"/>
              <a:pPr defTabSz="1219170"/>
              <a:t>16</a:t>
            </a:fld>
            <a:endParaRPr lang="en" kern="0"/>
          </a:p>
        </p:txBody>
      </p:sp>
    </p:spTree>
    <p:extLst>
      <p:ext uri="{BB962C8B-B14F-4D97-AF65-F5344CB8AC3E}">
        <p14:creationId xmlns:p14="http://schemas.microsoft.com/office/powerpoint/2010/main" val="3857761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AC02AC-1A91-2DA7-6DAF-3B34880634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1219170"/>
            <a:fld id="{00000000-1234-1234-1234-123412341234}" type="slidenum">
              <a:rPr lang="en" kern="0"/>
              <a:pPr defTabSz="1219170"/>
              <a:t>17</a:t>
            </a:fld>
            <a:endParaRPr lang="en" kern="0"/>
          </a:p>
        </p:txBody>
      </p:sp>
      <p:sp>
        <p:nvSpPr>
          <p:cNvPr id="7" name="AutoShape 8" descr="transformers deep learning for Sale OFF62%">
            <a:extLst>
              <a:ext uri="{FF2B5EF4-FFF2-40B4-BE49-F238E27FC236}">
                <a16:creationId xmlns:a16="http://schemas.microsoft.com/office/drawing/2014/main" id="{64FFC276-9AE7-6ECD-ABB2-79FE1C7ED0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92800" y="3225800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219170">
              <a:buClr>
                <a:srgbClr val="000000"/>
              </a:buClr>
            </a:pPr>
            <a:endParaRPr lang="en-IN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8" name="AutoShape 10" descr="transformers deep learning for Sale OFF62%">
            <a:extLst>
              <a:ext uri="{FF2B5EF4-FFF2-40B4-BE49-F238E27FC236}">
                <a16:creationId xmlns:a16="http://schemas.microsoft.com/office/drawing/2014/main" id="{87E7E317-F179-CE3A-4C06-16CD24B40E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219170">
              <a:buClr>
                <a:srgbClr val="000000"/>
              </a:buClr>
            </a:pPr>
            <a:endParaRPr lang="en-IN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8B05EB-E69C-12D8-0649-7881743DE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2859" y="551562"/>
            <a:ext cx="4959882" cy="53484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08BE06-780F-32D6-31B4-AB54611350BC}"/>
              </a:ext>
            </a:extLst>
          </p:cNvPr>
          <p:cNvSpPr txBox="1"/>
          <p:nvPr/>
        </p:nvSpPr>
        <p:spPr>
          <a:xfrm>
            <a:off x="3571507" y="5737929"/>
            <a:ext cx="5861785" cy="91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70" kern="0" spc="1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unga" panose="020B0502040204020203" pitchFamily="34" charset="0"/>
              </a:rPr>
              <a:t>Figure 5- Working of BERT model</a:t>
            </a:r>
            <a:endParaRPr lang="en-US" sz="2670" kern="100" dirty="0">
              <a:effectLst/>
              <a:highlight>
                <a:srgbClr val="FFFFFF"/>
              </a:highlight>
              <a:latin typeface="Calibri" panose="020F0502020204030204" pitchFamily="34" charset="0"/>
              <a:ea typeface="Calibri" panose="020F0502020204030204" pitchFamily="34" charset="0"/>
              <a:cs typeface="Tunga" panose="020B0502040204020203" pitchFamily="34" charset="0"/>
            </a:endParaRPr>
          </a:p>
          <a:p>
            <a:endParaRPr lang="en-US" sz="2670" dirty="0"/>
          </a:p>
        </p:txBody>
      </p:sp>
    </p:spTree>
    <p:extLst>
      <p:ext uri="{BB962C8B-B14F-4D97-AF65-F5344CB8AC3E}">
        <p14:creationId xmlns:p14="http://schemas.microsoft.com/office/powerpoint/2010/main" val="4398740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8CB1A-1238-C9D5-1C3E-1010003104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18</a:t>
            </a:fld>
            <a:endParaRPr lang="en"/>
          </a:p>
        </p:txBody>
      </p:sp>
      <p:pic>
        <p:nvPicPr>
          <p:cNvPr id="5" name="Picture 4" descr="The DistilBERT model architecture and components.">
            <a:extLst>
              <a:ext uri="{FF2B5EF4-FFF2-40B4-BE49-F238E27FC236}">
                <a16:creationId xmlns:a16="http://schemas.microsoft.com/office/drawing/2014/main" id="{0AE6460C-329A-263C-B46F-FB60D2A47D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18" y="741145"/>
            <a:ext cx="9898922" cy="46586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4ED679-B636-BB0E-33B4-538E15F211D3}"/>
              </a:ext>
            </a:extLst>
          </p:cNvPr>
          <p:cNvSpPr txBox="1"/>
          <p:nvPr/>
        </p:nvSpPr>
        <p:spPr>
          <a:xfrm>
            <a:off x="2589194" y="5442255"/>
            <a:ext cx="6477803" cy="64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2670" kern="0" spc="1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unga" panose="020B0502040204020203" pitchFamily="34" charset="0"/>
              </a:rPr>
              <a:t>Figure 6- Working of </a:t>
            </a:r>
            <a:r>
              <a:rPr lang="en-IN" sz="2670" kern="0" spc="1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unga" panose="020B0502040204020203" pitchFamily="34" charset="0"/>
              </a:rPr>
              <a:t>DistilBERT</a:t>
            </a:r>
            <a:endParaRPr lang="en-US" sz="2670" kern="100" dirty="0">
              <a:effectLst/>
              <a:highlight>
                <a:srgbClr val="FFFFFF"/>
              </a:highlight>
              <a:latin typeface="Calibri" panose="020F0502020204030204" pitchFamily="34" charset="0"/>
              <a:ea typeface="Calibri" panose="020F0502020204030204" pitchFamily="34" charset="0"/>
              <a:cs typeface="Tunga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94260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D7F1C3-D794-F5B9-3FEB-D84924479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885524"/>
            <a:ext cx="10972800" cy="5240639"/>
          </a:xfrm>
        </p:spPr>
        <p:txBody>
          <a:bodyPr/>
          <a:lstStyle/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Utilizes </a:t>
            </a:r>
            <a:r>
              <a:rPr lang="en-US" sz="267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smaller and faster version of BERT.</a:t>
            </a:r>
          </a:p>
          <a:p>
            <a:pPr algn="just"/>
            <a:r>
              <a:rPr lang="en-US" sz="267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40% fewer parameters than BERT-base-uncased.</a:t>
            </a:r>
          </a:p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60% faster while maintaining over 95% of BERT's performance.</a:t>
            </a:r>
          </a:p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Achieves efficiency through knowledge distillation technique.</a:t>
            </a:r>
          </a:p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to mimic BERT's representations while being smaller.</a:t>
            </a:r>
          </a:p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Significantly reduces inference time.</a:t>
            </a:r>
          </a:p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for computationally constrained environments.</a:t>
            </a:r>
          </a:p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Preserves BERT's performance on language understanding tasks.</a:t>
            </a:r>
          </a:p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efficient training and deployment of natural language processing models.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0A19A9-4DF0-953F-9A26-47CCF26160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19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046035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3A3F7-0B22-7BBC-8E4F-2419FB68A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Grammatical Error Correction using Rule-based approach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C1F505-C37E-B626-1502-5D22D6D04C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Subject-verb agreement is a critical aspect of grammar ensuring coherence and clarity in sentences.</a:t>
            </a:r>
          </a:p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approach in Kannada correction focuses on rectifying subject-verb agreement errors.</a:t>
            </a:r>
          </a:p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Emphasis on utilizing linguistic rules and patterns specific to Kannada.</a:t>
            </a:r>
          </a:p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subject and verb crucial for applying appropriate agreement rules.</a:t>
            </a:r>
          </a:p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Singular subject requires a singular verb; plural subject necessitates a plural verb in Kannada.</a:t>
            </a:r>
          </a:p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Agreement influenced by tense, aspect, and mood in Kannada grammar.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A18195-AAF3-A1B8-F2ED-69FD99E6A6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20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609261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18FF6C-95A0-E15E-AAFF-9EEDC1316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9985" y="892834"/>
            <a:ext cx="10972800" cy="5463517"/>
          </a:xfrm>
        </p:spPr>
        <p:txBody>
          <a:bodyPr/>
          <a:lstStyle/>
          <a:p>
            <a:pPr marL="0" marR="0" algn="just" fontAlgn="base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67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 example illustrating subject-verb agreement in Kannada:</a:t>
            </a:r>
            <a:endParaRPr lang="en-US" sz="2670" kern="100" dirty="0">
              <a:effectLst/>
              <a:highlight>
                <a:srgbClr val="FFFFFF"/>
              </a:highligh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67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Singular subject: "</a:t>
            </a:r>
            <a:r>
              <a:rPr lang="kn-IN" sz="267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unga" panose="020B0502040204020203" pitchFamily="34" charset="0"/>
              </a:rPr>
              <a:t>ಅವನು ಹೋಗುತ್ತಾನೆ" (</a:t>
            </a:r>
            <a:r>
              <a:rPr lang="en-IN" sz="2670" kern="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avanu</a:t>
            </a:r>
            <a:r>
              <a:rPr lang="en-IN" sz="267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670" kern="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hōguttāne</a:t>
            </a:r>
            <a:r>
              <a:rPr lang="en-IN" sz="267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- "He goes."</a:t>
            </a:r>
            <a:endParaRPr lang="en-US" sz="2670" kern="100" dirty="0">
              <a:effectLst/>
              <a:highlight>
                <a:srgbClr val="FFFFFF"/>
              </a:highligh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67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Plural subject: "</a:t>
            </a:r>
            <a:r>
              <a:rPr lang="kn-IN" sz="267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unga" panose="020B0502040204020203" pitchFamily="34" charset="0"/>
              </a:rPr>
              <a:t>ಅವರು ಹೋಗುತ್ತಾರೆ" (</a:t>
            </a:r>
            <a:r>
              <a:rPr lang="en-IN" sz="2670" kern="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avaru</a:t>
            </a:r>
            <a:r>
              <a:rPr lang="en-IN" sz="267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670" kern="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hōguttāre</a:t>
            </a:r>
            <a:r>
              <a:rPr lang="en-IN" sz="267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- "They go."</a:t>
            </a:r>
            <a:endParaRPr lang="en-US" sz="2670" kern="100" dirty="0">
              <a:effectLst/>
              <a:highlight>
                <a:srgbClr val="FFFFFF"/>
              </a:highligh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67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the above examples, the verb "</a:t>
            </a:r>
            <a:r>
              <a:rPr lang="kn-IN" sz="267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unga" panose="020B0502040204020203" pitchFamily="34" charset="0"/>
              </a:rPr>
              <a:t>ಹೋಗುತ್ತಾನೆ" (</a:t>
            </a:r>
            <a:r>
              <a:rPr lang="en-IN" sz="2670" kern="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hōguttāne</a:t>
            </a:r>
            <a:r>
              <a:rPr lang="en-IN" sz="267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agrees with the singular subject "</a:t>
            </a:r>
            <a:r>
              <a:rPr lang="kn-IN" sz="267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unga" panose="020B0502040204020203" pitchFamily="34" charset="0"/>
              </a:rPr>
              <a:t>ಅವನು" (</a:t>
            </a:r>
            <a:r>
              <a:rPr lang="en-IN" sz="2670" kern="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avanu</a:t>
            </a:r>
            <a:r>
              <a:rPr lang="en-IN" sz="267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and the verb "</a:t>
            </a:r>
            <a:r>
              <a:rPr lang="kn-IN" sz="267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unga" panose="020B0502040204020203" pitchFamily="34" charset="0"/>
              </a:rPr>
              <a:t>ಹೋಗುತ್ತಾರೆ" (</a:t>
            </a:r>
            <a:r>
              <a:rPr lang="en-IN" sz="2670" kern="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hōguttāre</a:t>
            </a:r>
            <a:r>
              <a:rPr lang="en-IN" sz="267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agrees with the plural subject "</a:t>
            </a:r>
            <a:r>
              <a:rPr lang="kn-IN" sz="267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unga" panose="020B0502040204020203" pitchFamily="34" charset="0"/>
              </a:rPr>
              <a:t>ಅವರು" (</a:t>
            </a:r>
            <a:r>
              <a:rPr lang="en-IN" sz="2670" kern="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avaru</a:t>
            </a:r>
            <a:r>
              <a:rPr lang="en-IN" sz="267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lang="en-US" sz="2670" kern="100" dirty="0">
              <a:effectLst/>
              <a:highlight>
                <a:srgbClr val="FFFFFF"/>
              </a:highligh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52396" indent="0" algn="just">
              <a:buNone/>
            </a:pPr>
            <a:endParaRPr lang="en-US" sz="26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8A0005-EE90-583D-5431-088BDAD3BE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21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272021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01C0D-6A9F-1FD6-C201-4F048A5A1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387376-BD27-02FD-ADA9-183B8D155F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396" indent="0" algn="just">
              <a:buNone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Spell-checker using </a:t>
            </a:r>
            <a:r>
              <a:rPr lang="en-US" b="1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Hunspell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Utilizes </a:t>
            </a:r>
            <a:r>
              <a:rPr lang="en-US" sz="267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Hunspell</a:t>
            </a:r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library in Python for spell-checking.</a:t>
            </a:r>
          </a:p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measure: </a:t>
            </a:r>
            <a:r>
              <a:rPr lang="en-US" sz="267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Levenshtein</a:t>
            </a:r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distance (edit distance).</a:t>
            </a:r>
          </a:p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minimum single-character edits for corrections.</a:t>
            </a:r>
          </a:p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suggestions based on closest matches in the dictionary.</a:t>
            </a:r>
          </a:p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accuracy of spell-checking in Kannada language.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B1DD7-8F58-9CA4-C460-2C1B0E5CCA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059149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472A82-B291-FACE-EABB-6BAC8CC48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895150"/>
            <a:ext cx="10972800" cy="5231014"/>
          </a:xfrm>
        </p:spPr>
        <p:txBody>
          <a:bodyPr/>
          <a:lstStyle/>
          <a:p>
            <a:pPr marL="152396" indent="0" algn="just">
              <a:buNone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Grammatical Error Detection </a:t>
            </a:r>
          </a:p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Utilizes pre-trained </a:t>
            </a:r>
            <a:r>
              <a:rPr lang="en-US" sz="267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for grammatical error detection.</a:t>
            </a:r>
          </a:p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Fine-tuned using a custom dataset of 45,798 sentences.</a:t>
            </a:r>
          </a:p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Labels 0 and 1 indicate correct and incorrect sentences.</a:t>
            </a:r>
          </a:p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Specifically focuses on subject-verb agreement criterion.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B0D9D3-3DB5-C360-8FC7-BD40FCF4A4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23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934747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510F67-49F4-DF4B-A3DE-798478162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952902"/>
            <a:ext cx="10972800" cy="5173262"/>
          </a:xfrm>
        </p:spPr>
        <p:txBody>
          <a:bodyPr/>
          <a:lstStyle/>
          <a:p>
            <a:pPr marL="152396" indent="0" algn="just">
              <a:buNone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Grammatical Error Correction</a:t>
            </a:r>
          </a:p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approach for grammatical error correction.</a:t>
            </a:r>
          </a:p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present and future tenses.</a:t>
            </a:r>
          </a:p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subject and verb by stemming each word.</a:t>
            </a:r>
          </a:p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Suggests verb corrections based on count, gender, and person of subject.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4ADDA1-21D8-6E5A-A5D0-1AD5003DD8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493007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BD991E-4D7B-6E1C-E71D-81DAE3321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933652"/>
            <a:ext cx="10972800" cy="5192512"/>
          </a:xfrm>
        </p:spPr>
        <p:txBody>
          <a:bodyPr/>
          <a:lstStyle/>
          <a:p>
            <a:pPr marL="152396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</a:t>
            </a:r>
          </a:p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designed using HTML, CSS, and Bootstrap.</a:t>
            </a:r>
          </a:p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Back-end developed using Flask, a Python framework.</a:t>
            </a:r>
          </a:p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Facilitates seamless interaction between user and the model.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0EFA6F-5860-93AD-EAE8-36E17CDED04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25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511160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D27FAC-F9B5-AF1B-9710-4AD2FCDCC8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26</a:t>
            </a:fld>
            <a:endParaRPr lang="e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70A206-A0A3-BC1A-8E3F-17FE34107C30}"/>
              </a:ext>
            </a:extLst>
          </p:cNvPr>
          <p:cNvSpPr txBox="1"/>
          <p:nvPr/>
        </p:nvSpPr>
        <p:spPr>
          <a:xfrm>
            <a:off x="764775" y="5775158"/>
            <a:ext cx="3741699" cy="503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7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</a:rPr>
              <a:t>Figure 7- home page</a:t>
            </a:r>
            <a:endParaRPr lang="en-US" sz="267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B75596-43D5-1E06-49C5-2E0708E2B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159" y="1299411"/>
            <a:ext cx="9519384" cy="4302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2107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96C633-A9EC-B8E0-7794-3B5F63BD6A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27</a:t>
            </a:fld>
            <a:endParaRPr lang="e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2624F4-0824-85F1-A48F-016964AE6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36" y="1030054"/>
            <a:ext cx="4781550" cy="43874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F5185A4-7F35-A046-F7ED-8B7452881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2343" y="1007545"/>
            <a:ext cx="6646034" cy="27116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851D96-4B0F-6DFC-282D-4788E219A52C}"/>
              </a:ext>
            </a:extLst>
          </p:cNvPr>
          <p:cNvSpPr txBox="1"/>
          <p:nvPr/>
        </p:nvSpPr>
        <p:spPr>
          <a:xfrm>
            <a:off x="240632" y="5505651"/>
            <a:ext cx="4781549" cy="64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7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</a:rPr>
              <a:t>Figure 8- </a:t>
            </a:r>
            <a:r>
              <a:rPr lang="en-US" sz="2670" kern="1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unga" panose="020B0502040204020203" pitchFamily="34" charset="0"/>
              </a:rPr>
              <a:t>Spell-checker input</a:t>
            </a:r>
            <a:endParaRPr lang="en-US" sz="267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unga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CA1E57-EE50-F248-FEF4-B3D9E9116685}"/>
              </a:ext>
            </a:extLst>
          </p:cNvPr>
          <p:cNvSpPr txBox="1"/>
          <p:nvPr/>
        </p:nvSpPr>
        <p:spPr>
          <a:xfrm>
            <a:off x="5232343" y="3955983"/>
            <a:ext cx="5442074" cy="64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7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</a:rPr>
              <a:t>Figure 9- </a:t>
            </a:r>
            <a:r>
              <a:rPr lang="en-US" sz="2670" kern="1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unga" panose="020B0502040204020203" pitchFamily="34" charset="0"/>
              </a:rPr>
              <a:t>Spell-checker output</a:t>
            </a:r>
            <a:endParaRPr lang="en-US" sz="267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unga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64364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96C633-A9EC-B8E0-7794-3B5F63BD6A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28</a:t>
            </a:fld>
            <a:endParaRPr lang="e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851D96-4B0F-6DFC-282D-4788E219A52C}"/>
              </a:ext>
            </a:extLst>
          </p:cNvPr>
          <p:cNvSpPr txBox="1"/>
          <p:nvPr/>
        </p:nvSpPr>
        <p:spPr>
          <a:xfrm>
            <a:off x="240632" y="5505651"/>
            <a:ext cx="4781549" cy="64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7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</a:rPr>
              <a:t>Figure 10- </a:t>
            </a:r>
            <a:r>
              <a:rPr lang="en-US" sz="2670" kern="1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unga" panose="020B0502040204020203" pitchFamily="34" charset="0"/>
              </a:rPr>
              <a:t>Spell-checker input</a:t>
            </a:r>
            <a:endParaRPr lang="en-US" sz="267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unga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CA1E57-EE50-F248-FEF4-B3D9E9116685}"/>
              </a:ext>
            </a:extLst>
          </p:cNvPr>
          <p:cNvSpPr txBox="1"/>
          <p:nvPr/>
        </p:nvSpPr>
        <p:spPr>
          <a:xfrm>
            <a:off x="5232343" y="3955983"/>
            <a:ext cx="5442074" cy="1875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670" dirty="0">
              <a:solidFill>
                <a:srgbClr val="222222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670" dirty="0">
              <a:solidFill>
                <a:srgbClr val="222222"/>
              </a:solidFill>
              <a:highlight>
                <a:srgbClr val="FFFFFF"/>
              </a:highlight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7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</a:rPr>
              <a:t>Figure </a:t>
            </a:r>
            <a:r>
              <a:rPr lang="en-US" sz="2670" dirty="0">
                <a:solidFill>
                  <a:srgbClr val="222222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</a:rPr>
              <a:t>11</a:t>
            </a:r>
            <a:r>
              <a:rPr lang="en-US" sz="267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</a:rPr>
              <a:t>- </a:t>
            </a:r>
            <a:r>
              <a:rPr lang="en-US" sz="2670" kern="1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unga" panose="020B0502040204020203" pitchFamily="34" charset="0"/>
              </a:rPr>
              <a:t>Spell-checker output</a:t>
            </a:r>
            <a:endParaRPr lang="en-US" sz="267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unga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017579-8CD6-FCA9-AF8F-6D2748FB5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32" y="1411604"/>
            <a:ext cx="3776746" cy="39212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3B10C3C-E534-82EB-5D61-4691FF2925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3617" y="1411604"/>
            <a:ext cx="7594332" cy="392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5357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17EEC2-0B0A-540E-533E-F1B669523D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29</a:t>
            </a:fld>
            <a:endParaRPr lang="e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713565-CE0A-6BD7-7546-25EE113B2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363" y="968673"/>
            <a:ext cx="4832151" cy="42196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54C76A-43CB-4A5F-ACF9-69B4FFD52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441" y="968674"/>
            <a:ext cx="6582760" cy="26696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4456F0-D969-E737-5080-CD7BCC8EFF9E}"/>
              </a:ext>
            </a:extLst>
          </p:cNvPr>
          <p:cNvSpPr txBox="1"/>
          <p:nvPr/>
        </p:nvSpPr>
        <p:spPr>
          <a:xfrm>
            <a:off x="240363" y="5279786"/>
            <a:ext cx="4832151" cy="1259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7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</a:rPr>
              <a:t>Figure 12- </a:t>
            </a:r>
            <a:r>
              <a:rPr lang="en-US" sz="2670" kern="1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unga" panose="020B0502040204020203" pitchFamily="34" charset="0"/>
              </a:rPr>
              <a:t>Grammatical error detector input</a:t>
            </a:r>
            <a:endParaRPr lang="en-US" sz="267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unga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6ACCD1-DF8A-8D34-E2B2-00CE0BC3AF73}"/>
              </a:ext>
            </a:extLst>
          </p:cNvPr>
          <p:cNvSpPr txBox="1"/>
          <p:nvPr/>
        </p:nvSpPr>
        <p:spPr>
          <a:xfrm>
            <a:off x="5365441" y="3696101"/>
            <a:ext cx="5222349" cy="1259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7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</a:rPr>
              <a:t>Figure 13- </a:t>
            </a:r>
            <a:r>
              <a:rPr lang="en-US" sz="2670" kern="1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unga" panose="020B0502040204020203" pitchFamily="34" charset="0"/>
              </a:rPr>
              <a:t>Grammatical error detector output</a:t>
            </a:r>
            <a:endParaRPr lang="en-US" sz="267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unga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80994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F64F5E-D05D-B65A-90BA-90D6F06CE9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30</a:t>
            </a:fld>
            <a:endParaRPr lang="e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8CD0ED-8CE5-A26D-71A4-B5D1DB958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41" y="1160479"/>
            <a:ext cx="4674762" cy="39794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22A0593-1432-CCB8-2FA9-2764AB1F6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8385" y="1160479"/>
            <a:ext cx="6602067" cy="27762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E19589-6DC2-DA16-EAAA-5DF5040AEB23}"/>
              </a:ext>
            </a:extLst>
          </p:cNvPr>
          <p:cNvSpPr txBox="1"/>
          <p:nvPr/>
        </p:nvSpPr>
        <p:spPr>
          <a:xfrm>
            <a:off x="358741" y="5279786"/>
            <a:ext cx="4674762" cy="1259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7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</a:rPr>
              <a:t>Figure 14- </a:t>
            </a:r>
            <a:r>
              <a:rPr lang="en-US" sz="2670" kern="1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unga" panose="020B0502040204020203" pitchFamily="34" charset="0"/>
              </a:rPr>
              <a:t>Grammatical error detector input</a:t>
            </a:r>
            <a:endParaRPr lang="en-US" sz="267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unga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A5A23B-BBBE-F2B3-F5BC-6BBE3C433A13}"/>
              </a:ext>
            </a:extLst>
          </p:cNvPr>
          <p:cNvSpPr txBox="1"/>
          <p:nvPr/>
        </p:nvSpPr>
        <p:spPr>
          <a:xfrm>
            <a:off x="5328385" y="4321742"/>
            <a:ext cx="5663666" cy="1259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7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</a:rPr>
              <a:t>Figure 15- </a:t>
            </a:r>
            <a:r>
              <a:rPr lang="en-US" sz="2670" kern="1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unga" panose="020B0502040204020203" pitchFamily="34" charset="0"/>
              </a:rPr>
              <a:t>Grammatical error detector output</a:t>
            </a:r>
            <a:endParaRPr lang="en-US" sz="267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unga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24514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ED628D-860B-0DD1-F64F-BA6DC369BE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31</a:t>
            </a:fld>
            <a:endParaRPr lang="e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DEED6E-350D-86C7-2B82-B5F1B1597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140" y="1049152"/>
            <a:ext cx="4487231" cy="40618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D484CDE-689D-C20D-E768-C3C4DF547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859" y="1049152"/>
            <a:ext cx="6665915" cy="27746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99047F-DFDD-38AD-8930-D991BE20F6E6}"/>
              </a:ext>
            </a:extLst>
          </p:cNvPr>
          <p:cNvSpPr txBox="1"/>
          <p:nvPr/>
        </p:nvSpPr>
        <p:spPr>
          <a:xfrm>
            <a:off x="315140" y="5467150"/>
            <a:ext cx="5019719" cy="91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7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</a:rPr>
              <a:t>Figure 16- </a:t>
            </a:r>
            <a:r>
              <a:rPr lang="en-US" sz="267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unga" panose="020B0502040204020203" pitchFamily="34" charset="0"/>
              </a:rPr>
              <a:t>Grammatical error corrector input</a:t>
            </a:r>
            <a:endParaRPr lang="en-US" sz="267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59542A-E3A9-8875-A023-F8D7459C3334}"/>
              </a:ext>
            </a:extLst>
          </p:cNvPr>
          <p:cNvSpPr txBox="1"/>
          <p:nvPr/>
        </p:nvSpPr>
        <p:spPr>
          <a:xfrm>
            <a:off x="5419022" y="4318200"/>
            <a:ext cx="5890661" cy="91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7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</a:rPr>
              <a:t>Figure 17- </a:t>
            </a:r>
            <a:r>
              <a:rPr lang="en-US" sz="267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unga" panose="020B0502040204020203" pitchFamily="34" charset="0"/>
              </a:rPr>
              <a:t>Grammatical error corrector output</a:t>
            </a:r>
            <a:endParaRPr lang="en-US" sz="2670" dirty="0"/>
          </a:p>
        </p:txBody>
      </p:sp>
    </p:spTree>
    <p:extLst>
      <p:ext uri="{BB962C8B-B14F-4D97-AF65-F5344CB8AC3E}">
        <p14:creationId xmlns:p14="http://schemas.microsoft.com/office/powerpoint/2010/main" val="36256986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CAFD1-2FED-17D8-30B1-E5ECD6301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</a:rPr>
              <a:t>Results and Discussion</a:t>
            </a:r>
            <a:endParaRPr lang="en-US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2720FB-98C2-476C-0FAC-63A5117E07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396" indent="0" algn="just">
              <a:buNone/>
            </a:pPr>
            <a:r>
              <a:rPr lang="en-US" b="1" kern="1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Spell-checker using </a:t>
            </a:r>
            <a:r>
              <a:rPr lang="en-US" b="1" kern="10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Hunspell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Kannada spell-checker tested with a sample of 20 randomly selected words.</a:t>
            </a:r>
          </a:p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Corrected errors in 16 out of the 20 tested words.</a:t>
            </a:r>
          </a:p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an accuracy rate of 80% in error correction.</a:t>
            </a:r>
          </a:p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successful identification and rectification of errors in the majority of tested words.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25DC71-97E3-7537-AA7B-25922D19D9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651863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CB255-760F-708B-0567-72BECA4E2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Grammatical error detection using the BERT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4C5CD-C830-1B29-9398-0BC67D9080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396" indent="0" algn="just">
              <a:buNone/>
            </a:pPr>
            <a:r>
              <a:rPr lang="en-US" sz="2670" kern="1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Kannada grammatical error detection model was trained using </a:t>
            </a:r>
            <a:r>
              <a:rPr lang="en-US" sz="2670" kern="10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DistilBERT</a:t>
            </a:r>
            <a:r>
              <a:rPr lang="en-US" sz="2670" kern="1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It was able to achieve an accuracy of 92% on the test set containing 5088 sentences. </a:t>
            </a:r>
            <a:endParaRPr lang="en-US" sz="267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52396" indent="0" algn="just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3CD1C-4D62-D1EF-8B51-A511263B83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33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DF95E1-51E2-EE3E-6B05-4A21EF965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297" y="3221966"/>
            <a:ext cx="7110406" cy="2316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6556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C4044-ACC4-1BA5-A39A-5E5C9A371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b="1" kern="1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unga" panose="020B0502040204020203" pitchFamily="34" charset="0"/>
              </a:rPr>
              <a:t>Grammatical error correction using rule-based approach</a:t>
            </a:r>
            <a:endParaRPr lang="en-US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C60C85-4BA8-F58F-77F6-4FAAFBA23A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 with 20 randomly chosen sentences in present and future tense.</a:t>
            </a:r>
          </a:p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Provided expected corrections for 18 out of 20 sentences.</a:t>
            </a:r>
          </a:p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accuracy rate of 90%.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77C6AD-0417-1314-0F63-2560CD2715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186274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6D4B5-73EF-65D4-AA15-A8A884128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77" y="731837"/>
            <a:ext cx="10972800" cy="1095375"/>
          </a:xfrm>
        </p:spPr>
        <p:txBody>
          <a:bodyPr/>
          <a:lstStyle/>
          <a:p>
            <a:r>
              <a:rPr lang="en-IN" sz="4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unga" panose="020B0502040204020203" pitchFamily="34" charset="0"/>
              </a:rPr>
              <a:t>Conclusion</a:t>
            </a: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unga" panose="020B0502040204020203" pitchFamily="34" charset="0"/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43CABB-6CA5-7EB5-5B6C-A25D0541AA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396" indent="0" algn="just">
              <a:buNone/>
            </a:pPr>
            <a:r>
              <a:rPr lang="en-IN" sz="267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project is aimed at developing a GEC tool for Kannada documents using the BERT model and evaluating its performance. Previously GEC in</a:t>
            </a:r>
            <a:r>
              <a:rPr lang="en-IN" sz="2670" kern="100" spc="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67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Kannada has been done using LSTM and, in this project, it is attempted to do the same using Transformers, with the</a:t>
            </a:r>
            <a:r>
              <a:rPr lang="en-IN" sz="2670" kern="100" spc="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67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additional</a:t>
            </a:r>
            <a:r>
              <a:rPr lang="en-IN" sz="2670" kern="1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67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feature</a:t>
            </a:r>
            <a:r>
              <a:rPr lang="en-IN" sz="2670" kern="100" spc="-2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67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 a</a:t>
            </a:r>
            <a:r>
              <a:rPr lang="en-IN" sz="2670" kern="100" spc="2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67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spell</a:t>
            </a:r>
            <a:r>
              <a:rPr lang="en-IN" sz="2670" kern="1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67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checker.</a:t>
            </a:r>
          </a:p>
          <a:p>
            <a:pPr marL="152396" indent="0" algn="just">
              <a:buNone/>
            </a:pPr>
            <a:r>
              <a:rPr lang="en-IN" sz="267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 we move on with our work, we will be concentrating on improving the spell and grammar-checking tool to handle irregular verb usage, varied tenses, and intricate sentence structures.</a:t>
            </a:r>
            <a:endParaRPr lang="en-US" sz="267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52396" indent="0" algn="just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80CCB-4275-6585-C68A-77BD60BD7F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35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5438706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7332</TotalTime>
  <Words>1360</Words>
  <Application>Microsoft Office PowerPoint</Application>
  <PresentationFormat>Widescreen</PresentationFormat>
  <Paragraphs>202</Paragraphs>
  <Slides>35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Aptos</vt:lpstr>
      <vt:lpstr>Arial</vt:lpstr>
      <vt:lpstr>Calibri</vt:lpstr>
      <vt:lpstr>Symbol</vt:lpstr>
      <vt:lpstr>Times New Roman</vt:lpstr>
      <vt:lpstr>1_Office Theme</vt:lpstr>
      <vt:lpstr> Team Members: Ananya M                             01JST20IS008 Dhanya V Hegde                  01JST20IS016 Dhanika Gowda D                01JST20IS054 </vt:lpstr>
      <vt:lpstr>PowerPoint Presentation</vt:lpstr>
      <vt:lpstr>Problem statement </vt:lpstr>
      <vt:lpstr>Objectives</vt:lpstr>
      <vt:lpstr>Requirements Specification</vt:lpstr>
      <vt:lpstr>PowerPoint Presentation</vt:lpstr>
      <vt:lpstr>System Specifications</vt:lpstr>
      <vt:lpstr>PowerPoint Presentation</vt:lpstr>
      <vt:lpstr>Architecture and Design</vt:lpstr>
      <vt:lpstr>Low Level Design </vt:lpstr>
      <vt:lpstr>PowerPoint Presentation</vt:lpstr>
      <vt:lpstr>Grammatical error correction</vt:lpstr>
      <vt:lpstr>Methodology</vt:lpstr>
      <vt:lpstr>PowerPoint Presentation</vt:lpstr>
      <vt:lpstr>PowerPoint Presentation</vt:lpstr>
      <vt:lpstr>Working of BERT Model</vt:lpstr>
      <vt:lpstr>PowerPoint Presentation</vt:lpstr>
      <vt:lpstr>PowerPoint Presentation</vt:lpstr>
      <vt:lpstr>PowerPoint Presentation</vt:lpstr>
      <vt:lpstr>Grammatical Error Correction using Rule-based approach</vt:lpstr>
      <vt:lpstr>PowerPoint Presentation</vt:lpstr>
      <vt:lpstr>Implementation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Results and Discussion</vt:lpstr>
      <vt:lpstr>Grammatical error detection using the BERT model</vt:lpstr>
      <vt:lpstr>Grammatical error correction using rule-based approach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Team Members:  Ananya M                             01JST20IS008 Dhanya V Hegde                  01JST20IS016 Dhanika Gowda D                01JST20IS054 </dc:title>
  <dc:creator>Ananya M</dc:creator>
  <cp:lastModifiedBy>Ananya M</cp:lastModifiedBy>
  <cp:revision>16</cp:revision>
  <dcterms:created xsi:type="dcterms:W3CDTF">2024-02-01T17:08:52Z</dcterms:created>
  <dcterms:modified xsi:type="dcterms:W3CDTF">2024-05-09T03:20:27Z</dcterms:modified>
</cp:coreProperties>
</file>